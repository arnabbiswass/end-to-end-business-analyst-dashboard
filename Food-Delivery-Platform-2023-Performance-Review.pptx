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2209403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Food Delivery Platform: 2023 Performance Review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0012" y="3660973"/>
            <a:ext cx="61797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comprehensive look at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200K total orders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₹165M in revenue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the operational metrics shaping our delivery business across 15+ cities.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97495"/>
            <a:ext cx="10751670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Performance Metrics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20012" y="1659930"/>
            <a:ext cx="52512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200K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720012" y="2578894"/>
            <a:ext cx="52512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Orders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220364" y="1659930"/>
            <a:ext cx="52513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₹824</a:t>
            </a:r>
            <a:endParaRPr lang="en-US" sz="5250" dirty="0"/>
          </a:p>
        </p:txBody>
      </p:sp>
      <p:sp>
        <p:nvSpPr>
          <p:cNvPr id="6" name="Text 4"/>
          <p:cNvSpPr/>
          <p:nvPr/>
        </p:nvSpPr>
        <p:spPr>
          <a:xfrm>
            <a:off x="6220364" y="2578894"/>
            <a:ext cx="52513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Avg Order Value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20012" y="3360043"/>
            <a:ext cx="52512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165M</a:t>
            </a:r>
            <a:endParaRPr lang="en-US" sz="5250" dirty="0"/>
          </a:p>
        </p:txBody>
      </p:sp>
      <p:sp>
        <p:nvSpPr>
          <p:cNvPr id="8" name="Text 6"/>
          <p:cNvSpPr/>
          <p:nvPr/>
        </p:nvSpPr>
        <p:spPr>
          <a:xfrm>
            <a:off x="720012" y="4279007"/>
            <a:ext cx="52512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Revenue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20364" y="3360043"/>
            <a:ext cx="52513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20K</a:t>
            </a:r>
            <a:endParaRPr lang="en-US" sz="5250" dirty="0"/>
          </a:p>
        </p:txBody>
      </p:sp>
      <p:sp>
        <p:nvSpPr>
          <p:cNvPr id="10" name="Text 8"/>
          <p:cNvSpPr/>
          <p:nvPr/>
        </p:nvSpPr>
        <p:spPr>
          <a:xfrm>
            <a:off x="6220364" y="4279007"/>
            <a:ext cx="52513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Customers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20012" y="5060156"/>
            <a:ext cx="52512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50.28%</a:t>
            </a:r>
            <a:endParaRPr lang="en-US" sz="5250" dirty="0"/>
          </a:p>
        </p:txBody>
      </p:sp>
      <p:sp>
        <p:nvSpPr>
          <p:cNvPr id="12" name="Text 10"/>
          <p:cNvSpPr/>
          <p:nvPr/>
        </p:nvSpPr>
        <p:spPr>
          <a:xfrm>
            <a:off x="720012" y="5979120"/>
            <a:ext cx="52512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Repeat Customer 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220364" y="5060156"/>
            <a:ext cx="52513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44.55</a:t>
            </a:r>
            <a:endParaRPr lang="en-US" sz="5250" dirty="0"/>
          </a:p>
        </p:txBody>
      </p:sp>
      <p:sp>
        <p:nvSpPr>
          <p:cNvPr id="14" name="Text 12"/>
          <p:cNvSpPr/>
          <p:nvPr/>
        </p:nvSpPr>
        <p:spPr>
          <a:xfrm>
            <a:off x="6220364" y="5979120"/>
            <a:ext cx="52513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Avg Delivery Time (min)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Revenue by City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BTM Leads by a Wide Margin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BTM generates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₹7.4M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nearly double HSR's ₹3.8M. The top 6 cities account for over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₹24M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combined revenue, representing the platform's core urban markets.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6241"/>
            <a:ext cx="10751670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Order Status &amp; Delivery Performance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364555"/>
            <a:ext cx="5175914" cy="3725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2118" y="1348184"/>
            <a:ext cx="5175914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80.2% Delivery Success Rate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302118" y="1706463"/>
            <a:ext cx="517591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200K total orders: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36.18K delivered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4.55K delayed (10.08%), and 4.38K cancelled (9.72%).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20012" y="5384105"/>
            <a:ext cx="5310551" cy="907554"/>
          </a:xfrm>
          <a:prstGeom prst="roundRect">
            <a:avLst>
              <a:gd name="adj" fmla="val 27097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2967" y="5567065"/>
            <a:ext cx="494464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96K Late Orders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2967" y="5873155"/>
            <a:ext cx="4944641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48.12% late delivery rate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61132" y="5384105"/>
            <a:ext cx="5310551" cy="907554"/>
          </a:xfrm>
          <a:prstGeom prst="roundRect">
            <a:avLst>
              <a:gd name="adj" fmla="val 27097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44087" y="5567065"/>
            <a:ext cx="494464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20K Cancelled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44087" y="5873155"/>
            <a:ext cx="4944641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Across all cities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Revenue Trend: Jan – Nov 2023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Stable Revenue with a July Peak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peaked at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₹7.2M in July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dipping to ₹6.7M in May and September. Overall trend remains stable between ₹6.7M–₹7.2M throughout 2023.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Segmentation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954286"/>
            <a:ext cx="10751670" cy="6020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7052370"/>
            <a:ext cx="107516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New Customers Drive Revenue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20012" y="7272338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 customers contribute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₹18.7M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vs. ₹14.9M from returning and ₹3.6M from premium. With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 orders per customer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on average and 50.28% repeat rate, retention is a key growth lever.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759105" y="8122245"/>
            <a:ext cx="12652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50.4%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302" y="7479308"/>
            <a:ext cx="1543011" cy="154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0012" y="9099451"/>
            <a:ext cx="53436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New Customers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167086" y="8122245"/>
            <a:ext cx="12652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49.6%</a:t>
            </a:r>
            <a:endParaRPr lang="en-US" sz="2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283" y="7479308"/>
            <a:ext cx="1543011" cy="1543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27994" y="9099451"/>
            <a:ext cx="53436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Repeat Customers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892870"/>
            <a:ext cx="617978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Restaurant &amp; Cuisine Insights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5291898" y="1736130"/>
            <a:ext cx="2993355" cy="2047776"/>
          </a:xfrm>
          <a:prstGeom prst="roundRect">
            <a:avLst>
              <a:gd name="adj" fmla="val 14599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10174" y="1954411"/>
            <a:ext cx="255680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52K Restaurants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510174" y="2347020"/>
            <a:ext cx="2556803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 rating 3.70 · ₹3.18K revenue per restaurant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78328" y="1736130"/>
            <a:ext cx="2993355" cy="2047776"/>
          </a:xfrm>
          <a:prstGeom prst="roundRect">
            <a:avLst>
              <a:gd name="adj" fmla="val 14599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6604" y="1954411"/>
            <a:ext cx="2556803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Top Cuisine: North Indian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96604" y="2623840"/>
            <a:ext cx="2556803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9.8K orders — more than double South Indian (4.1K) and Cafe (3.5K)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91898" y="3976985"/>
            <a:ext cx="6179784" cy="1143099"/>
          </a:xfrm>
          <a:prstGeom prst="roundRect">
            <a:avLst>
              <a:gd name="adj" fmla="val 26153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10174" y="4195266"/>
            <a:ext cx="574323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Budget Dominates Orders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510174" y="4587875"/>
            <a:ext cx="5743233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~10.5K orders vs. Premium (~6.5K) and Mid Range (~1.5K)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291898" y="5337274"/>
            <a:ext cx="6179784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restaurants by revenue include </a:t>
            </a:r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Cafe Thulp</a:t>
            </a:r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(~₹4.5K), </a:t>
            </a:r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99 Pancakes</a:t>
            </a:r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(~₹4.2K), and </a:t>
            </a:r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Ande Ka Funda</a:t>
            </a:r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(~₹4.1K).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Delivery Performance Deep Dive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BTM Has Highest Cancellations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BTM leads with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903 cancellations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followed by HSR (464) and Whitefield (408). Delivery status shows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63.87% late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vs. 36.13% on-time overall.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53115" y="3709293"/>
            <a:ext cx="5124917" cy="1460698"/>
          </a:xfrm>
          <a:prstGeom prst="roundRect">
            <a:avLst>
              <a:gd name="adj" fmla="val 21127"/>
            </a:avLst>
          </a:prstGeom>
          <a:solidFill>
            <a:srgbClr val="4B3F0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91" y="4027686"/>
            <a:ext cx="257169" cy="205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21634" y="3945830"/>
            <a:ext cx="425072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 delivery time of 44.55 min and 48.12% late rate signal operational friction requiring attention.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Sign-Up Trend &amp; Restaurant Ratings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Steady User Acquisition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Sign-ups remained consistent between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800–870 per month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peaking in August (872). Platform maintains a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3.70 avg rating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across 52K restaurants with 283.70 average votes per restaurant.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845641"/>
            <a:ext cx="6179784" cy="51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Takeaways &amp; Opportunities</a:t>
            </a:r>
            <a:endParaRPr lang="en-US" sz="3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1616968"/>
            <a:ext cx="6179784" cy="1352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3437" y="1828800"/>
            <a:ext cx="5654534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Strengthen Delivery Operations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33437" y="2189063"/>
            <a:ext cx="565453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48.12% late delivery rate and 96K late orders demand logistics optimization, especially in BTM and HSR.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12" y="3138388"/>
            <a:ext cx="6179784" cy="13524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33437" y="3350220"/>
            <a:ext cx="5654534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Convert New Customers to Repeat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033437" y="3710484"/>
            <a:ext cx="565453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 customers drive ₹18.7M in revenue. Improving the 50.28% repeat rate is a high-impact growth lever.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12" y="4659809"/>
            <a:ext cx="6179784" cy="13524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33437" y="4871641"/>
            <a:ext cx="5654534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Expand in Top Cities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033437" y="5231904"/>
            <a:ext cx="565453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BTM's ₹7.4M revenue dwarfs smaller cities. Focused investment in HSR, Whitefield, and Indiranagar can close the gap.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2026-09-14T15:45:30Z</dcterms:created>
  <dcterms:modified xsi:type="dcterms:W3CDTF">2026-09-14T15:45:30Z</dcterms:modified>
</cp:coreProperties>
</file>